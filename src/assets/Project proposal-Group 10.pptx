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Montserrat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regular.fntdata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1ff1349bc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1ff1349bc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81ff1349bc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1ff1349bc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1ff1349bc_3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81ff1349bc_3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1f0cc95f1_4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81f0cc95f1_4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2098575" y="1401100"/>
            <a:ext cx="81384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1886"/>
              <a:buFont typeface="Play"/>
              <a:buNone/>
            </a:pPr>
            <a:r>
              <a:rPr b="1" lang="en-US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Cross-Lingual Document Retrieval using Embedding Models</a:t>
            </a:r>
            <a:endParaRPr b="1" sz="5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44675" y="4876075"/>
            <a:ext cx="4977600" cy="17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Group Number 10:</a:t>
            </a:r>
            <a:b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Atishay Kasliwal - 116373667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Meet Zalavadiya - 116644121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Moraish Kapoor - 116793038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Shaunak Rahul Mahajan - 116553078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64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Swati Swati  - 116778659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52900" y="133825"/>
            <a:ext cx="5264700" cy="119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6556" l="5785" r="5758" t="25141"/>
          <a:stretch/>
        </p:blipFill>
        <p:spPr>
          <a:xfrm>
            <a:off x="449138" y="3707525"/>
            <a:ext cx="4872225" cy="24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4575" y="195750"/>
            <a:ext cx="5739851" cy="32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title"/>
          </p:nvPr>
        </p:nvSpPr>
        <p:spPr>
          <a:xfrm>
            <a:off x="5430325" y="4048725"/>
            <a:ext cx="6699000" cy="22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  <a:endParaRPr sz="2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620225" y="4207900"/>
            <a:ext cx="6319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AI for Multilingual Semantic Search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Build a system for </a:t>
            </a: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multi-lingual retrieval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○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Query in any language (English/Hindi/Spanish).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Retrieve </a:t>
            </a: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relevant documents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regardless of their source language.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EmbeddingGemma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to generate multilingual embeddings.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Store in a </a:t>
            </a: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vector DB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for semantic search.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Optionally use </a:t>
            </a: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Gemma-3n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for summarization/translation of results.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42075" y="1219200"/>
            <a:ext cx="5103900" cy="20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Computers are good with numbers, but humans are good with text. 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Web is multilingual, but search engines still favor English → cross-lingual queries fail.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Wikipedia (300+ languages) is a rich multilingual knowledge base.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</a:pP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Embeddings are a way to convert this text into numbers. 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6"/>
          <p:cNvGrpSpPr/>
          <p:nvPr/>
        </p:nvGrpSpPr>
        <p:grpSpPr>
          <a:xfrm>
            <a:off x="24" y="4573088"/>
            <a:ext cx="2995823" cy="1433262"/>
            <a:chOff x="466173" y="2159333"/>
            <a:chExt cx="2132866" cy="1428121"/>
          </a:xfrm>
        </p:grpSpPr>
        <p:sp>
          <p:nvSpPr>
            <p:cNvPr id="83" name="Google Shape;83;p16"/>
            <p:cNvSpPr/>
            <p:nvPr/>
          </p:nvSpPr>
          <p:spPr>
            <a:xfrm>
              <a:off x="902781" y="3080265"/>
              <a:ext cx="15345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466173" y="3216054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600">
                  <a:latin typeface="Roboto"/>
                  <a:ea typeface="Roboto"/>
                  <a:cs typeface="Roboto"/>
                  <a:sym typeface="Roboto"/>
                </a:rPr>
                <a:t>23rd Sept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5" name="Google Shape;85;p16"/>
            <p:cNvGrpSpPr/>
            <p:nvPr/>
          </p:nvGrpSpPr>
          <p:grpSpPr>
            <a:xfrm>
              <a:off x="851208" y="2800855"/>
              <a:ext cx="92400" cy="411825"/>
              <a:chOff x="845575" y="2563700"/>
              <a:chExt cx="92400" cy="411825"/>
            </a:xfrm>
          </p:grpSpPr>
          <p:cxnSp>
            <p:nvCxnSpPr>
              <p:cNvPr id="86" name="Google Shape;86;p1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7" name="Google Shape;87;p1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" name="Google Shape;88;p16"/>
            <p:cNvSpPr txBox="1"/>
            <p:nvPr/>
          </p:nvSpPr>
          <p:spPr>
            <a:xfrm>
              <a:off x="817339" y="2159333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Project Proposal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>
                  <a:latin typeface="Roboto"/>
                  <a:ea typeface="Roboto"/>
                  <a:cs typeface="Roboto"/>
                  <a:sym typeface="Roboto"/>
                </a:rPr>
                <a:t>Today: Project Presentation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2255150" y="5119100"/>
            <a:ext cx="2856887" cy="1739364"/>
            <a:chOff x="2071702" y="2703386"/>
            <a:chExt cx="2033950" cy="1733125"/>
          </a:xfrm>
        </p:grpSpPr>
        <p:sp>
          <p:nvSpPr>
            <p:cNvPr id="90" name="Google Shape;90;p16"/>
            <p:cNvSpPr/>
            <p:nvPr/>
          </p:nvSpPr>
          <p:spPr>
            <a:xfrm>
              <a:off x="2437281" y="3080265"/>
              <a:ext cx="15345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323952" y="3492711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Report Submission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>
                  <a:latin typeface="Roboto"/>
                  <a:ea typeface="Roboto"/>
                  <a:cs typeface="Roboto"/>
                  <a:sym typeface="Roboto"/>
                </a:rPr>
                <a:t>Providing a high level project plan along with the technologies used.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2071702" y="2703386"/>
              <a:ext cx="9636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600">
                  <a:latin typeface="Roboto"/>
                  <a:ea typeface="Roboto"/>
                  <a:cs typeface="Roboto"/>
                  <a:sym typeface="Roboto"/>
                </a:rPr>
                <a:t>28th Sept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3" name="Google Shape;93;p16"/>
            <p:cNvGrpSpPr/>
            <p:nvPr/>
          </p:nvGrpSpPr>
          <p:grpSpPr>
            <a:xfrm rot="10800000">
              <a:off x="2395183" y="3080258"/>
              <a:ext cx="92400" cy="411825"/>
              <a:chOff x="2070100" y="2563700"/>
              <a:chExt cx="92400" cy="411825"/>
            </a:xfrm>
          </p:grpSpPr>
          <p:cxnSp>
            <p:nvCxnSpPr>
              <p:cNvPr id="94" name="Google Shape;94;p1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5" name="Google Shape;95;p1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" name="Google Shape;96;p16"/>
          <p:cNvGrpSpPr/>
          <p:nvPr/>
        </p:nvGrpSpPr>
        <p:grpSpPr>
          <a:xfrm>
            <a:off x="4462079" y="4264624"/>
            <a:ext cx="2822585" cy="1741716"/>
            <a:chOff x="3642917" y="1851975"/>
            <a:chExt cx="2009529" cy="1735468"/>
          </a:xfrm>
        </p:grpSpPr>
        <p:sp>
          <p:nvSpPr>
            <p:cNvPr id="97" name="Google Shape;97;p16"/>
            <p:cNvSpPr/>
            <p:nvPr/>
          </p:nvSpPr>
          <p:spPr>
            <a:xfrm>
              <a:off x="3971778" y="3080265"/>
              <a:ext cx="15345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" name="Google Shape;98;p16"/>
            <p:cNvGrpSpPr/>
            <p:nvPr/>
          </p:nvGrpSpPr>
          <p:grpSpPr>
            <a:xfrm>
              <a:off x="3924544" y="2800855"/>
              <a:ext cx="92400" cy="411825"/>
              <a:chOff x="845575" y="2563700"/>
              <a:chExt cx="92400" cy="411825"/>
            </a:xfrm>
          </p:grpSpPr>
          <p:cxnSp>
            <p:nvCxnSpPr>
              <p:cNvPr id="99" name="Google Shape;99;p1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0" name="Google Shape;100;p1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" name="Google Shape;101;p16"/>
            <p:cNvSpPr txBox="1"/>
            <p:nvPr/>
          </p:nvSpPr>
          <p:spPr>
            <a:xfrm>
              <a:off x="3642917" y="3216043"/>
              <a:ext cx="785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600">
                  <a:latin typeface="Roboto"/>
                  <a:ea typeface="Roboto"/>
                  <a:cs typeface="Roboto"/>
                  <a:sym typeface="Roboto"/>
                </a:rPr>
                <a:t>15th Oct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3870747" y="1851975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Phase 1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>
                  <a:latin typeface="Roboto"/>
                  <a:ea typeface="Roboto"/>
                  <a:cs typeface="Roboto"/>
                  <a:sym typeface="Roboto"/>
                </a:rPr>
                <a:t>Set up the vector database &amp; complete the initial Embedding runs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6552649" y="5119100"/>
            <a:ext cx="2838495" cy="1739364"/>
            <a:chOff x="5131291" y="2703386"/>
            <a:chExt cx="2020857" cy="1733125"/>
          </a:xfrm>
        </p:grpSpPr>
        <p:sp>
          <p:nvSpPr>
            <p:cNvPr id="104" name="Google Shape;104;p16"/>
            <p:cNvSpPr/>
            <p:nvPr/>
          </p:nvSpPr>
          <p:spPr>
            <a:xfrm>
              <a:off x="5506276" y="3080265"/>
              <a:ext cx="15345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" name="Google Shape;105;p16"/>
            <p:cNvGrpSpPr/>
            <p:nvPr/>
          </p:nvGrpSpPr>
          <p:grpSpPr>
            <a:xfrm rot="10800000">
              <a:off x="5455515" y="3080258"/>
              <a:ext cx="92400" cy="411825"/>
              <a:chOff x="2070100" y="2563700"/>
              <a:chExt cx="92400" cy="411825"/>
            </a:xfrm>
          </p:grpSpPr>
          <p:cxnSp>
            <p:nvCxnSpPr>
              <p:cNvPr id="106" name="Google Shape;106;p1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7" name="Google Shape;107;p1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" name="Google Shape;108;p16"/>
            <p:cNvSpPr txBox="1"/>
            <p:nvPr/>
          </p:nvSpPr>
          <p:spPr>
            <a:xfrm>
              <a:off x="5131291" y="2703386"/>
              <a:ext cx="872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600">
                  <a:latin typeface="Roboto"/>
                  <a:ea typeface="Roboto"/>
                  <a:cs typeface="Roboto"/>
                  <a:sym typeface="Roboto"/>
                </a:rPr>
                <a:t>31st Oct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5370448" y="3492711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Phase 2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>
                  <a:latin typeface="Roboto"/>
                  <a:ea typeface="Roboto"/>
                  <a:cs typeface="Roboto"/>
                  <a:sym typeface="Roboto"/>
                </a:rPr>
                <a:t>End to end pipeline to ingest data, defining evaluation metrics.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8750736" y="4573100"/>
            <a:ext cx="2995801" cy="1433254"/>
            <a:chOff x="6671023" y="2159331"/>
            <a:chExt cx="2475460" cy="1428112"/>
          </a:xfrm>
        </p:grpSpPr>
        <p:sp>
          <p:nvSpPr>
            <p:cNvPr id="111" name="Google Shape;111;p16"/>
            <p:cNvSpPr/>
            <p:nvPr/>
          </p:nvSpPr>
          <p:spPr>
            <a:xfrm>
              <a:off x="7040783" y="3080265"/>
              <a:ext cx="21057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" name="Google Shape;112;p16"/>
            <p:cNvGrpSpPr/>
            <p:nvPr/>
          </p:nvGrpSpPr>
          <p:grpSpPr>
            <a:xfrm>
              <a:off x="6994658" y="2800855"/>
              <a:ext cx="92400" cy="411825"/>
              <a:chOff x="845575" y="2563700"/>
              <a:chExt cx="92400" cy="411825"/>
            </a:xfrm>
          </p:grpSpPr>
          <p:cxnSp>
            <p:nvCxnSpPr>
              <p:cNvPr id="113" name="Google Shape;113;p1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4" name="Google Shape;114;p1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" name="Google Shape;115;p16"/>
            <p:cNvSpPr txBox="1"/>
            <p:nvPr/>
          </p:nvSpPr>
          <p:spPr>
            <a:xfrm>
              <a:off x="6671023" y="3216043"/>
              <a:ext cx="1546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600">
                  <a:latin typeface="Roboto"/>
                  <a:ea typeface="Roboto"/>
                  <a:cs typeface="Roboto"/>
                  <a:sym typeface="Roboto"/>
                </a:rPr>
                <a:t>End of November</a:t>
              </a:r>
              <a:endParaRPr b="1"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7087061" y="2159331"/>
              <a:ext cx="16632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latin typeface="Roboto"/>
                  <a:ea typeface="Roboto"/>
                  <a:cs typeface="Roboto"/>
                  <a:sym typeface="Roboto"/>
                </a:rPr>
                <a:t>Final Submission of Project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>
                  <a:latin typeface="Roboto"/>
                  <a:ea typeface="Roboto"/>
                  <a:cs typeface="Roboto"/>
                  <a:sym typeface="Roboto"/>
                </a:rPr>
                <a:t>Report and Project demo</a:t>
              </a:r>
              <a:r>
                <a:rPr lang="en-US" sz="1100">
                  <a:latin typeface="Roboto"/>
                  <a:ea typeface="Roboto"/>
                  <a:cs typeface="Roboto"/>
                  <a:sym typeface="Roboto"/>
                </a:rPr>
                <a:t>.        Result analysis.</a:t>
              </a:r>
              <a:endParaRPr b="1"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7" name="Google Shape;117;p16"/>
          <p:cNvSpPr txBox="1"/>
          <p:nvPr/>
        </p:nvSpPr>
        <p:spPr>
          <a:xfrm>
            <a:off x="0" y="0"/>
            <a:ext cx="79695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Deliverables</a:t>
            </a:r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577" y="988823"/>
            <a:ext cx="2109350" cy="169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000" y="1064061"/>
            <a:ext cx="3049201" cy="15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193100" y="2988525"/>
            <a:ext cx="352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To handle multiple user queries and requests.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2429" y="702213"/>
            <a:ext cx="3764546" cy="21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362800" y="2910400"/>
            <a:ext cx="370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Chat interface to interact with the embedded wiki database.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230550" y="2988525"/>
            <a:ext cx="370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Used to embed documents across multiple languages.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0" y="3833238"/>
            <a:ext cx="79695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Timeline</a:t>
            </a:r>
            <a:endParaRPr/>
          </a:p>
        </p:txBody>
      </p:sp>
      <p:cxnSp>
        <p:nvCxnSpPr>
          <p:cNvPr id="125" name="Google Shape;125;p16"/>
          <p:cNvCxnSpPr/>
          <p:nvPr/>
        </p:nvCxnSpPr>
        <p:spPr>
          <a:xfrm flipH="1">
            <a:off x="3694750" y="601925"/>
            <a:ext cx="19200" cy="317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6"/>
          <p:cNvCxnSpPr/>
          <p:nvPr/>
        </p:nvCxnSpPr>
        <p:spPr>
          <a:xfrm flipH="1">
            <a:off x="7881250" y="582700"/>
            <a:ext cx="14100" cy="31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6"/>
          <p:cNvCxnSpPr/>
          <p:nvPr/>
        </p:nvCxnSpPr>
        <p:spPr>
          <a:xfrm>
            <a:off x="6400" y="3745975"/>
            <a:ext cx="12192000" cy="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6"/>
          <p:cNvCxnSpPr/>
          <p:nvPr/>
        </p:nvCxnSpPr>
        <p:spPr>
          <a:xfrm flipH="1" rot="10800000">
            <a:off x="0" y="563625"/>
            <a:ext cx="12204900" cy="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ctrTitle"/>
          </p:nvPr>
        </p:nvSpPr>
        <p:spPr>
          <a:xfrm>
            <a:off x="1463625" y="796725"/>
            <a:ext cx="8790900" cy="31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b="1" sz="5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